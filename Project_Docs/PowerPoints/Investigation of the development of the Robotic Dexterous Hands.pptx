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58" r:id="rId5"/>
    <p:sldId id="264" r:id="rId6"/>
    <p:sldId id="262" r:id="rId7"/>
    <p:sldId id="265" r:id="rId8"/>
    <p:sldId id="263" r:id="rId9"/>
    <p:sldId id="259" r:id="rId10"/>
    <p:sldId id="26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9" autoAdjust="0"/>
    <p:restoredTop sz="65126" autoAdjust="0"/>
  </p:normalViewPr>
  <p:slideViewPr>
    <p:cSldViewPr snapToGrid="0">
      <p:cViewPr varScale="1">
        <p:scale>
          <a:sx n="104" d="100"/>
          <a:sy n="104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D9A9A-D787-462B-A02F-ED30801C78CE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EE37A-819B-4191-A4BA-C89209F72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90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灵巧手的智能体现在其软硬件的协同之中。本次汇报将提供一个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特定的技术视角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，聚焦于实现其灵巧性的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物理基础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即机械结构、传动与驱动系统</a:t>
            </a:r>
            <a:endParaRPr lang="en-GB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152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尽管灵巧手的发展面临感知、控制等多方面的挑战，深入理解其硬件基础对于评估整体性能至关重要。本分析将基于报告发现，深入探讨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Mechanical, Transmission, and Motors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这三个相互关联的领域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 最后还会附带一点市场的数据作为进一步的佐证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890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适应性与耦合与刚性之间的权衡</a:t>
            </a:r>
            <a:endParaRPr lang="en-GB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适应性是指灵巧手通过例如欠驱动等机械设计，无需复杂主动控制就能被动贴合不同形状物体的固有能力</a:t>
            </a:r>
            <a:endParaRPr lang="en-GB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Actuated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全驱动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高精度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控制复杂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高成本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Underactuated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欠驱动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被动自适应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控制简单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高鲁棒性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816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无需复杂主动控制就能被动贴合不同形状物体的固有能力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604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耦合是什么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关节通过机械结构（如连杆）关联运动，实现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预编程的稳定抓取姿态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，控制简单</a:t>
            </a:r>
            <a:endParaRPr lang="en-GB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Tendon-driven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肌腱驱动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高灵活性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空间利用率高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Linkage-driven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联动驱动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高刚性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高精度 </a:t>
            </a:r>
            <a:r>
              <a:rPr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直接传动</a:t>
            </a:r>
          </a:p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042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刚性权衡：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高刚性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（精度高、负载大）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低刚性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柔顺性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（交互安全、被动适应）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214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核心思想：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传动是将电机运动转化为关节动作的桥梁</a:t>
            </a:r>
            <a:endParaRPr lang="en-US" altLang="ja-JP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腱绳传动</a:t>
            </a:r>
            <a:endParaRPr lang="ja-JP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优势：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高空间利用率、高灵活性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劣势：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较低寿命和可靠性</a:t>
            </a:r>
            <a:endParaRPr lang="en-GB" altLang="ja-JP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代表案例：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Tesla Optimus Hand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连杆</a:t>
            </a:r>
            <a:r>
              <a:rPr lang="en-US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齿轮传动</a:t>
            </a:r>
            <a:endParaRPr lang="ja-JP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优势：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高负载能力、高精度、成熟常用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劣势：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不适合高速运动</a:t>
            </a:r>
            <a:endParaRPr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代表案例：</a:t>
            </a:r>
            <a:r>
              <a:rPr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Inspire Robots </a:t>
            </a:r>
            <a:r>
              <a:rPr lang="ja-JP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灵巧手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141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核心思想：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电机是动力的源头，决定了性能与尺寸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旋转电机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减速器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最常见方案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，通过齿轮减速增矩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线性丝杠舵机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高效率、高集成度</a:t>
            </a:r>
            <a:endParaRPr lang="en-GB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代表案例：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Inspire Robots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的核心微型直线伺服舵机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蜗轮蜗杆电机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优势：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结构紧凑、大减速比、自锁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代表案例：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Tesla Optimus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第一代手传动方案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FF0000"/>
                </a:solidFill>
              </a:rPr>
              <a:t>Why Tesla only used in 1</a:t>
            </a:r>
            <a:r>
              <a:rPr lang="en-GB" baseline="30000" dirty="0">
                <a:solidFill>
                  <a:srgbClr val="FF0000"/>
                </a:solidFill>
              </a:rPr>
              <a:t>st</a:t>
            </a:r>
            <a:r>
              <a:rPr lang="en-GB" dirty="0">
                <a:solidFill>
                  <a:srgbClr val="FF0000"/>
                </a:solidFill>
              </a:rPr>
              <a:t> generation??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767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这一切技术的背后，是一个快速增长的市场。全球灵巧手市场预计在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年达到约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亿美元，中国的人形机器人市场同样爆发在即，这为硬件技术的创新提供了强劲动力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827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总结来说，机械、传动、驱动三者的协同是灵巧手智能的物理基石。在火热的市场驱动下，优化这一硬件体系至关重要，而未来的核心挑战在于如何平衡性能、成本与可靠性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EE37A-819B-4191-A4BA-C89209F720F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217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A7A5-CA1F-4090-01BE-C48343C88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31B83-16FB-501E-3848-D6090AD7E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B151C-5966-7E1A-C40C-D7B5A8DE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958BB-755E-4BCA-A27F-D80BF63A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C0CA0-42BD-D8ED-DFC4-1023D4C5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32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6601-D87A-0E63-271F-467E09A6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9439F-5E69-B348-7F17-BD6889379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1CA2A-042A-0893-B1F8-A76584C7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62E98-612B-EF25-C3B6-446767AF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4D17A-4922-FE75-36A0-55AB7518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628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B0A2-1BBB-7278-381A-41FF2BA1E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FBFD4-D736-F993-3671-CCA534703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D022F-DD51-F4C8-B1CB-9CB0A6FE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5B51C-22BC-A18B-5D76-04146BFB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97167-A306-A039-0370-40C96C09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72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BB23-7725-7380-4F93-0F67E831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6C8A9-562A-A993-6F5C-359EEC2B6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993C0-C4B2-4917-CA9E-CA4BE984C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76C1C-500A-AEC7-B317-D972F4FE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19BAC-B7EE-47C3-0D48-6C7764FC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9310E-C78C-064B-8761-9208A213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39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F389-057F-7378-46E7-50DBC913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BD3FC-175B-FE95-127C-98234F525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FCF21-044C-A1D8-E1C2-4FF3A678E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1706B-6408-5004-E98B-2DDFC9F7B4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79217-44A6-C7EE-C76D-715F35353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F9E05-642F-0013-90A0-BEB7CD07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1CE88B-144F-70BA-1296-A51D4617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A4778-E01C-7D37-C975-BACD6C12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2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5541A-0EEA-47DD-638F-004335F8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36F0F-A1A4-ACDC-1B39-B4D0F4FB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559F0-71B5-77B9-35EA-12E695A6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419A4-A33A-3955-31C2-D0CA97A4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941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29DC5A-7177-1673-179D-4D66A16B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37A85-CDDB-03C3-23F6-1E3D455A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CC667-115B-9F36-9F02-C3C5DB1F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00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ADFC-5ADE-A7B8-B16B-05CD82C1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236B-9465-383F-4415-94BA1065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05C58-FB2E-6A12-90C9-F8923F31C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B77C8-BD09-E496-D66C-2677A276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9DA93-E69B-717D-BD13-076E2C99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49C1C-A3E8-2772-C017-3B4A49C1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80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F229-46F7-C065-5F04-A896232E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564A40-AC48-85C9-A26A-0ABD856EC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80958-CC11-5ECA-CEF3-B0C71FDF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C3BBD-47A7-87C4-BB30-566548306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0E928-B013-77F4-D66F-FC96741A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1A683-A63A-4614-5A87-070BFFE2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20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E983-699B-7534-F958-EBFB824F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AE0B7-9DC2-DBE3-F73C-01308A86C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DC8F0-AC9C-03A2-6764-BAAACBC19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B0B94-4B4A-5052-67E1-1F6D70E6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E6647-459E-0AC8-1B0F-01331F4F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14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1C456A-2916-FF94-59F0-6101DA19DF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9226E-5938-6632-FBA1-FFEAD0462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7F18E-5A31-56A6-4954-0FE19480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9B3D5-C652-89B4-607D-F47A502C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ECF73-56EB-F466-F713-A13DB409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33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5BA97-971F-4EEA-942D-29C2E1312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8CDE7-C1C9-1B83-5436-1D811CD67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80C26-6145-82D7-CE3C-D946E3C9D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60791-D447-4388-917C-D70EC77F623B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45DFC-8CA9-FAB4-6EEE-C31DB76EA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EF7B6-A573-366C-F122-DF8591CA0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7208A-0B8C-4C59-A826-1DF71462E3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31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mit.edu/2019/new-robot-hand-gripper-soft-and-strong-031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arketsandmarkets.com/Market-Reports/humanoid-robot-market-99567653.html?gad_source=1&amp;gad_campaignid=261349036&amp;gbraid=0AAAAADxY7Syoa-FKvOMRBEJAN-RoVuxz4&amp;gclid=CjwKCAjwi4PHBhA-EiwAnjTHuaqBkRrPGJP8ynA3EKdZyq" TargetMode="External"/><Relationship Id="rId5" Type="http://schemas.openxmlformats.org/officeDocument/2006/relationships/hyperlink" Target="https://doi.org/10.1049/ccs2.12073" TargetMode="External"/><Relationship Id="rId4" Type="http://schemas.openxmlformats.org/officeDocument/2006/relationships/hyperlink" Target="https://shadowrobot.com/news/press-releases/shadow-robot-unveils-the-worlds-most-robust-dexterous-robot-hand-developed-in-partnership-with-google-deepmin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E5E49AF-9625-04F3-9CA1-E2998F3AC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A9BBF5-7663-8A40-5301-FD544D9F69F0}"/>
              </a:ext>
            </a:extLst>
          </p:cNvPr>
          <p:cNvSpPr txBox="1"/>
          <p:nvPr/>
        </p:nvSpPr>
        <p:spPr>
          <a:xfrm>
            <a:off x="2680726" y="1832557"/>
            <a:ext cx="68305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Investigation of the development of the Robotic Dexterous Hands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047F3E-B273-2D95-5D99-86A7DDE49629}"/>
              </a:ext>
            </a:extLst>
          </p:cNvPr>
          <p:cNvSpPr txBox="1"/>
          <p:nvPr/>
        </p:nvSpPr>
        <p:spPr>
          <a:xfrm>
            <a:off x="2836868" y="3429000"/>
            <a:ext cx="6518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A Deep Dive into Mechanics, Transmission, and Actuation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F23E58-B09A-89B8-CAA8-8880136CDDE4}"/>
              </a:ext>
            </a:extLst>
          </p:cNvPr>
          <p:cNvSpPr txBox="1"/>
          <p:nvPr/>
        </p:nvSpPr>
        <p:spPr>
          <a:xfrm>
            <a:off x="3590131" y="5820370"/>
            <a:ext cx="5011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Lihao Zhou</a:t>
            </a:r>
          </a:p>
          <a:p>
            <a:pPr algn="ctr"/>
            <a:r>
              <a:rPr lang="en-US" altLang="zh-CN" dirty="0"/>
              <a:t>Oct </a:t>
            </a:r>
            <a:r>
              <a:rPr lang="en-GB" dirty="0"/>
              <a:t>2025</a:t>
            </a:r>
          </a:p>
          <a:p>
            <a:pPr algn="ctr"/>
            <a:r>
              <a:rPr lang="en-GB" dirty="0"/>
              <a:t>Department of Mechanical Engineering (IDT)</a:t>
            </a:r>
          </a:p>
        </p:txBody>
      </p:sp>
    </p:spTree>
    <p:extLst>
      <p:ext uri="{BB962C8B-B14F-4D97-AF65-F5344CB8AC3E}">
        <p14:creationId xmlns:p14="http://schemas.microsoft.com/office/powerpoint/2010/main" val="336848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E97B2-FB21-EF71-659B-FEDE4EF5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BD44E28-2E13-E41F-ED00-7D38B4956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pic>
        <p:nvPicPr>
          <p:cNvPr id="3" name="Picture 2" descr="A robot hand touching a finger&#10;&#10;AI-generated content may be incorrect.">
            <a:extLst>
              <a:ext uri="{FF2B5EF4-FFF2-40B4-BE49-F238E27FC236}">
                <a16:creationId xmlns:a16="http://schemas.microsoft.com/office/drawing/2014/main" id="{6F9477B2-65BA-FA42-0FF9-514E369BC1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887" y="3951515"/>
            <a:ext cx="4358878" cy="29064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18FAC5-D369-C61B-AD1E-B3C9E7FF9307}"/>
              </a:ext>
            </a:extLst>
          </p:cNvPr>
          <p:cNvSpPr txBox="1"/>
          <p:nvPr/>
        </p:nvSpPr>
        <p:spPr>
          <a:xfrm>
            <a:off x="718457" y="1175657"/>
            <a:ext cx="7147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GB" sz="2400" dirty="0"/>
              <a:t>he intelligence of the dexterous hand is manifested in the synergy between its hardware and software.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B5F7C-D6AB-F824-B68D-4806BD866553}"/>
              </a:ext>
            </a:extLst>
          </p:cNvPr>
          <p:cNvSpPr txBox="1"/>
          <p:nvPr/>
        </p:nvSpPr>
        <p:spPr>
          <a:xfrm>
            <a:off x="718457" y="2335925"/>
            <a:ext cx="42847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Basic Mechanical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Actuation and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Sensing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Materials and manufacturing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Control and High-Level AI</a:t>
            </a:r>
          </a:p>
        </p:txBody>
      </p:sp>
    </p:spTree>
    <p:extLst>
      <p:ext uri="{BB962C8B-B14F-4D97-AF65-F5344CB8AC3E}">
        <p14:creationId xmlns:p14="http://schemas.microsoft.com/office/powerpoint/2010/main" val="2100602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C840-1D29-EE4B-87C7-D3292330A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CE90EE4-2C1A-6257-E7DC-4CB0625DD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pic>
        <p:nvPicPr>
          <p:cNvPr id="3" name="Picture 2" descr="A robot hand touching a finger&#10;&#10;AI-generated content may be incorrect.">
            <a:extLst>
              <a:ext uri="{FF2B5EF4-FFF2-40B4-BE49-F238E27FC236}">
                <a16:creationId xmlns:a16="http://schemas.microsoft.com/office/drawing/2014/main" id="{36D912BF-F96E-D887-65BE-E6A5D22FD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887" y="3951515"/>
            <a:ext cx="4358878" cy="29064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3A62B4-BA67-F280-E37D-232ADB9063EF}"/>
              </a:ext>
            </a:extLst>
          </p:cNvPr>
          <p:cNvSpPr txBox="1"/>
          <p:nvPr/>
        </p:nvSpPr>
        <p:spPr>
          <a:xfrm>
            <a:off x="718457" y="1175657"/>
            <a:ext cx="7147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GB" sz="2400" dirty="0"/>
              <a:t>he intelligence of the dexterous hand is manifested in the synergy between its hardware and software.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D744F8-3163-85A0-D4DB-8EB47F4BC854}"/>
              </a:ext>
            </a:extLst>
          </p:cNvPr>
          <p:cNvSpPr txBox="1"/>
          <p:nvPr/>
        </p:nvSpPr>
        <p:spPr>
          <a:xfrm>
            <a:off x="718457" y="2335925"/>
            <a:ext cx="42847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Basic Mechanical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Actuation and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Sensing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Materials and manufacturing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 and High-Level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FE777-0357-3C77-BD37-49578C3B98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E7AFB5-6B89-2EB0-7435-74D0800C573B}"/>
              </a:ext>
            </a:extLst>
          </p:cNvPr>
          <p:cNvSpPr txBox="1"/>
          <p:nvPr/>
        </p:nvSpPr>
        <p:spPr>
          <a:xfrm>
            <a:off x="5302063" y="2766812"/>
            <a:ext cx="65878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Basic </a:t>
            </a:r>
            <a:r>
              <a:rPr lang="en-GB" sz="3200" b="1" dirty="0">
                <a:solidFill>
                  <a:schemeClr val="bg1"/>
                </a:solidFill>
              </a:rPr>
              <a:t>Mechanical</a:t>
            </a:r>
            <a:r>
              <a:rPr lang="en-GB" sz="3200" dirty="0">
                <a:solidFill>
                  <a:schemeClr val="bg1"/>
                </a:solidFill>
              </a:rPr>
              <a:t>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bg1"/>
                </a:solidFill>
              </a:rPr>
              <a:t>Actuation</a:t>
            </a:r>
            <a:r>
              <a:rPr lang="en-GB" sz="3200" dirty="0">
                <a:solidFill>
                  <a:schemeClr val="bg1"/>
                </a:solidFill>
              </a:rPr>
              <a:t> and </a:t>
            </a:r>
            <a:r>
              <a:rPr lang="en-GB" sz="3200" b="1" dirty="0">
                <a:solidFill>
                  <a:schemeClr val="bg1"/>
                </a:solidFill>
              </a:rPr>
              <a:t>Transmission</a:t>
            </a:r>
          </a:p>
        </p:txBody>
      </p:sp>
    </p:spTree>
    <p:extLst>
      <p:ext uri="{BB962C8B-B14F-4D97-AF65-F5344CB8AC3E}">
        <p14:creationId xmlns:p14="http://schemas.microsoft.com/office/powerpoint/2010/main" val="334161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461F1-6CFF-3020-48FE-96BEC567D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652DFE9-73CB-3B90-226F-7E64681D8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7523EB-46F7-E572-B675-28771B4A45F9}"/>
              </a:ext>
            </a:extLst>
          </p:cNvPr>
          <p:cNvSpPr txBox="1"/>
          <p:nvPr/>
        </p:nvSpPr>
        <p:spPr>
          <a:xfrm>
            <a:off x="142628" y="1175657"/>
            <a:ext cx="1204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GB" sz="2800" dirty="0"/>
              <a:t>echanical design: The Trade-off Between Adaptability, Coupling and Rigidity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664B3-E787-33A1-F4C0-15D77379E45D}"/>
              </a:ext>
            </a:extLst>
          </p:cNvPr>
          <p:cNvSpPr txBox="1"/>
          <p:nvPr/>
        </p:nvSpPr>
        <p:spPr>
          <a:xfrm>
            <a:off x="142628" y="1698877"/>
            <a:ext cx="7429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mechanical structure presets the hand's movement patterns and ability boundaries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37E11-EA9E-291C-5BE3-FA2403837816}"/>
              </a:ext>
            </a:extLst>
          </p:cNvPr>
          <p:cNvSpPr txBox="1"/>
          <p:nvPr/>
        </p:nvSpPr>
        <p:spPr>
          <a:xfrm>
            <a:off x="142628" y="3053094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Adaptability: Fully actuated - High precision, High cost, Control complexity</a:t>
            </a:r>
          </a:p>
          <a:p>
            <a:pPr lvl="1"/>
            <a:r>
              <a:rPr lang="en-GB" sz="2400" dirty="0"/>
              <a:t>		    Underactuated - Passive adaptive, Simple Control, High Robustness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BD060-1682-3F34-D49C-86B841D9013F}"/>
              </a:ext>
            </a:extLst>
          </p:cNvPr>
          <p:cNvSpPr txBox="1"/>
          <p:nvPr/>
        </p:nvSpPr>
        <p:spPr>
          <a:xfrm>
            <a:off x="142628" y="3884091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Coupling:       Tendo-drive – High flexibility, High space utilization, Low durability</a:t>
            </a:r>
          </a:p>
          <a:p>
            <a:pPr lvl="2"/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Linkage-driven – Mature, High rigidity, High precision, Direct drive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56DF0-AA02-3793-2FDC-0110C8FFA2F8}"/>
              </a:ext>
            </a:extLst>
          </p:cNvPr>
          <p:cNvSpPr txBox="1"/>
          <p:nvPr/>
        </p:nvSpPr>
        <p:spPr>
          <a:xfrm>
            <a:off x="204706" y="4715088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Rigidity Balance: High rigidity (high precision, large load) vs. low rigidity/softness (safe interaction)</a:t>
            </a:r>
          </a:p>
        </p:txBody>
      </p:sp>
    </p:spTree>
    <p:extLst>
      <p:ext uri="{BB962C8B-B14F-4D97-AF65-F5344CB8AC3E}">
        <p14:creationId xmlns:p14="http://schemas.microsoft.com/office/powerpoint/2010/main" val="2669225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9CA9-3F67-BD4D-BF8F-F55664DE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9BF867-2D33-D88F-3DC4-5A821C4A6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CB65C7-3400-A93B-0685-46562AB22BDF}"/>
              </a:ext>
            </a:extLst>
          </p:cNvPr>
          <p:cNvSpPr txBox="1"/>
          <p:nvPr/>
        </p:nvSpPr>
        <p:spPr>
          <a:xfrm>
            <a:off x="142628" y="1175657"/>
            <a:ext cx="1204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GB" sz="2800" dirty="0"/>
              <a:t>echanical design: The Trade-off Between Adaptability, Coupling and Rigidity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F5685-D747-01C1-EC40-93AF99B74B7B}"/>
              </a:ext>
            </a:extLst>
          </p:cNvPr>
          <p:cNvSpPr txBox="1"/>
          <p:nvPr/>
        </p:nvSpPr>
        <p:spPr>
          <a:xfrm>
            <a:off x="142628" y="1698877"/>
            <a:ext cx="7429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mechanical structure presets the hand's movement patterns and ability boundaries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21F83-895B-E440-2329-EB00E6290CE9}"/>
              </a:ext>
            </a:extLst>
          </p:cNvPr>
          <p:cNvSpPr txBox="1"/>
          <p:nvPr/>
        </p:nvSpPr>
        <p:spPr>
          <a:xfrm>
            <a:off x="142628" y="3053094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Adaptability: Fully actuated - High precision, High cost, Control complexity</a:t>
            </a:r>
          </a:p>
          <a:p>
            <a:pPr lvl="1"/>
            <a:r>
              <a:rPr lang="en-GB" sz="2400" dirty="0"/>
              <a:t>		    Underactuated - Passive adaptive, Simple Control, High Robustness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39FF0-9ED4-CC62-9925-767F93083266}"/>
              </a:ext>
            </a:extLst>
          </p:cNvPr>
          <p:cNvSpPr txBox="1"/>
          <p:nvPr/>
        </p:nvSpPr>
        <p:spPr>
          <a:xfrm>
            <a:off x="142628" y="3884091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Coupling:       Tendo-drive – High flexibility, High space utilization, Low durability</a:t>
            </a:r>
          </a:p>
          <a:p>
            <a:pPr lvl="2"/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Linkage-driven – Mature, High rigidity, High precision, Direct drive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7B692-3231-6AE5-BD8E-665AF5FCEE60}"/>
              </a:ext>
            </a:extLst>
          </p:cNvPr>
          <p:cNvSpPr txBox="1"/>
          <p:nvPr/>
        </p:nvSpPr>
        <p:spPr>
          <a:xfrm>
            <a:off x="204706" y="4715088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Rigidity Balance: High rigidity (high precision, large load) vs. low rigidity/softness (safe interaction)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433365-FC8E-DC3E-CF7D-E0FF0CC06555}"/>
              </a:ext>
            </a:extLst>
          </p:cNvPr>
          <p:cNvSpPr/>
          <p:nvPr/>
        </p:nvSpPr>
        <p:spPr>
          <a:xfrm>
            <a:off x="-26851" y="0"/>
            <a:ext cx="12254078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A person holding an apple&#10;&#10;AI-generated content may be incorrect.">
            <a:extLst>
              <a:ext uri="{FF2B5EF4-FFF2-40B4-BE49-F238E27FC236}">
                <a16:creationId xmlns:a16="http://schemas.microsoft.com/office/drawing/2014/main" id="{C685B9CF-DA44-7572-3C35-8820D7C9F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5657"/>
            <a:ext cx="6566586" cy="4370428"/>
          </a:xfrm>
          <a:prstGeom prst="rect">
            <a:avLst/>
          </a:prstGeom>
        </p:spPr>
      </p:pic>
      <p:pic>
        <p:nvPicPr>
          <p:cNvPr id="16" name="Picture 15" descr="A robot hand holding a rubik's cube&#10;&#10;AI-generated content may be incorrect.">
            <a:extLst>
              <a:ext uri="{FF2B5EF4-FFF2-40B4-BE49-F238E27FC236}">
                <a16:creationId xmlns:a16="http://schemas.microsoft.com/office/drawing/2014/main" id="{F53482A9-37B7-28F0-A68F-D8470D56B0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206" y="1025948"/>
            <a:ext cx="4549375" cy="452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40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F0E0-3653-E3DD-FA8B-39FC9EC2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7512D8F-E4B2-B441-D02A-482094EE9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D2095E-5706-0073-9D50-FFB6B6365017}"/>
              </a:ext>
            </a:extLst>
          </p:cNvPr>
          <p:cNvSpPr txBox="1"/>
          <p:nvPr/>
        </p:nvSpPr>
        <p:spPr>
          <a:xfrm>
            <a:off x="142628" y="1175657"/>
            <a:ext cx="1204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GB" sz="2800" dirty="0"/>
              <a:t>echanical design: The Trade-off Between Adaptability, Coupling and Rigidity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6891E-418E-03F7-335E-BC24DBB1E80D}"/>
              </a:ext>
            </a:extLst>
          </p:cNvPr>
          <p:cNvSpPr txBox="1"/>
          <p:nvPr/>
        </p:nvSpPr>
        <p:spPr>
          <a:xfrm>
            <a:off x="142628" y="1698877"/>
            <a:ext cx="7429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mechanical structure presets the hand's movement patterns and ability boundaries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17ED4-3D39-1BCF-853C-1183F7860BCB}"/>
              </a:ext>
            </a:extLst>
          </p:cNvPr>
          <p:cNvSpPr txBox="1"/>
          <p:nvPr/>
        </p:nvSpPr>
        <p:spPr>
          <a:xfrm>
            <a:off x="142628" y="3053094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Adaptability: Fully actuated - High precision, High cost, Control complexity</a:t>
            </a:r>
          </a:p>
          <a:p>
            <a:pPr lvl="1"/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    Underactuated - Passive adaptive, Simple Control, High Robustness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293F7-A2E5-3DD0-C53D-0A6BC09D01A1}"/>
              </a:ext>
            </a:extLst>
          </p:cNvPr>
          <p:cNvSpPr txBox="1"/>
          <p:nvPr/>
        </p:nvSpPr>
        <p:spPr>
          <a:xfrm>
            <a:off x="142628" y="3884091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Coupling:       Tendo-drive – High flexibility, High space utilization, Low durability</a:t>
            </a:r>
          </a:p>
          <a:p>
            <a:pPr lvl="2"/>
            <a:r>
              <a:rPr lang="en-GB" sz="2400" dirty="0"/>
              <a:t>                   Linkage-driven – Mature, High rigidity, High precision, Direct drive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C1A75-C191-3737-C83E-901677291B29}"/>
              </a:ext>
            </a:extLst>
          </p:cNvPr>
          <p:cNvSpPr txBox="1"/>
          <p:nvPr/>
        </p:nvSpPr>
        <p:spPr>
          <a:xfrm>
            <a:off x="204706" y="4715088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Rigidity Balance: High rigidity (high precision, large load) vs. low rigidity/softness (safe interaction)</a:t>
            </a:r>
          </a:p>
        </p:txBody>
      </p:sp>
    </p:spTree>
    <p:extLst>
      <p:ext uri="{BB962C8B-B14F-4D97-AF65-F5344CB8AC3E}">
        <p14:creationId xmlns:p14="http://schemas.microsoft.com/office/powerpoint/2010/main" val="1535685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EAD42-6526-2971-D6BB-29A23A23C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5878FF6-EBAA-E06C-5DE3-3C3789E7A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72791E-A4DB-0664-1429-A8EEE414D8C1}"/>
              </a:ext>
            </a:extLst>
          </p:cNvPr>
          <p:cNvSpPr txBox="1"/>
          <p:nvPr/>
        </p:nvSpPr>
        <p:spPr>
          <a:xfrm>
            <a:off x="142628" y="1175657"/>
            <a:ext cx="1204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GB" sz="2800" dirty="0"/>
              <a:t>echanical design: The Trade-off Between Adaptability, Coupling and Rigidity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29888-3A46-1B41-F2AD-115B26EC5FF6}"/>
              </a:ext>
            </a:extLst>
          </p:cNvPr>
          <p:cNvSpPr txBox="1"/>
          <p:nvPr/>
        </p:nvSpPr>
        <p:spPr>
          <a:xfrm>
            <a:off x="142628" y="1698877"/>
            <a:ext cx="7429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mechanical structure presets the hand's movement patterns and ability boundaries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317CB-0C56-EE11-CBFA-1A317E28D89E}"/>
              </a:ext>
            </a:extLst>
          </p:cNvPr>
          <p:cNvSpPr txBox="1"/>
          <p:nvPr/>
        </p:nvSpPr>
        <p:spPr>
          <a:xfrm>
            <a:off x="142628" y="3053094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Adaptability: Fully actuated - High precision, High cost, Control complexity</a:t>
            </a:r>
          </a:p>
          <a:p>
            <a:pPr lvl="1"/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    Underactuated - Passive adaptive, Simple Control, High Robustness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DA36C-4CDB-DB76-C555-63E0ECF5CBB3}"/>
              </a:ext>
            </a:extLst>
          </p:cNvPr>
          <p:cNvSpPr txBox="1"/>
          <p:nvPr/>
        </p:nvSpPr>
        <p:spPr>
          <a:xfrm>
            <a:off x="142628" y="3884091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Coupling:       Tendo-drive – High flexibility, High space utilization, Low durability</a:t>
            </a:r>
          </a:p>
          <a:p>
            <a:pPr lvl="2"/>
            <a:r>
              <a:rPr lang="en-GB" sz="2400" dirty="0"/>
              <a:t>                   Linkage-driven – Mature, High rigidity, High precision, Direct drive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A807DB-BBA1-6D93-AF9D-A96C2E3FCD4B}"/>
              </a:ext>
            </a:extLst>
          </p:cNvPr>
          <p:cNvSpPr txBox="1"/>
          <p:nvPr/>
        </p:nvSpPr>
        <p:spPr>
          <a:xfrm>
            <a:off x="204706" y="4715088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Rigidity Balance: High rigidity (high precision, large load) vs. low rigidity/softness (safe interaction)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13C757-CE88-9538-D8BA-F81BB72919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A robot holding a balloon&#10;&#10;AI-generated content may be incorrect.">
            <a:extLst>
              <a:ext uri="{FF2B5EF4-FFF2-40B4-BE49-F238E27FC236}">
                <a16:creationId xmlns:a16="http://schemas.microsoft.com/office/drawing/2014/main" id="{B296AA1F-C056-5656-48D3-EC42CD525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81" y="1510710"/>
            <a:ext cx="2471891" cy="3915764"/>
          </a:xfrm>
          <a:prstGeom prst="rect">
            <a:avLst/>
          </a:prstGeom>
        </p:spPr>
      </p:pic>
      <p:pic>
        <p:nvPicPr>
          <p:cNvPr id="12" name="Picture 11" descr="A diagram of a robotic arm&#10;&#10;AI-generated content may be incorrect.">
            <a:extLst>
              <a:ext uri="{FF2B5EF4-FFF2-40B4-BE49-F238E27FC236}">
                <a16:creationId xmlns:a16="http://schemas.microsoft.com/office/drawing/2014/main" id="{1BF7707D-45D7-6D97-BFEC-61315CFE3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92"/>
          <a:stretch>
            <a:fillRect/>
          </a:stretch>
        </p:blipFill>
        <p:spPr>
          <a:xfrm>
            <a:off x="6977253" y="1510710"/>
            <a:ext cx="2515585" cy="391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13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48AF-E18A-BE27-3265-BF62248D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0A43F1E-21CC-15F9-E019-41236C4BF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2FC2C3-337A-E824-8E8A-95DCC1FCFB00}"/>
              </a:ext>
            </a:extLst>
          </p:cNvPr>
          <p:cNvSpPr txBox="1"/>
          <p:nvPr/>
        </p:nvSpPr>
        <p:spPr>
          <a:xfrm>
            <a:off x="142628" y="1175657"/>
            <a:ext cx="1204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GB" sz="2800" dirty="0"/>
              <a:t>echanical design: The Trade-off Between Adaptability, Coupling and Rigidity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BC8F3-0DF5-95AC-109A-544C08506C37}"/>
              </a:ext>
            </a:extLst>
          </p:cNvPr>
          <p:cNvSpPr txBox="1"/>
          <p:nvPr/>
        </p:nvSpPr>
        <p:spPr>
          <a:xfrm>
            <a:off x="142628" y="1698877"/>
            <a:ext cx="6372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mechanical structure presets the hand's movement patterns and ability boundaries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5EF06-5CA7-5910-DE1B-BD00A077F7FF}"/>
              </a:ext>
            </a:extLst>
          </p:cNvPr>
          <p:cNvSpPr txBox="1"/>
          <p:nvPr/>
        </p:nvSpPr>
        <p:spPr>
          <a:xfrm>
            <a:off x="142628" y="3053094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Adaptability: Fully actuated - High precision, High cost, Control complexity</a:t>
            </a:r>
          </a:p>
          <a:p>
            <a:pPr lvl="1"/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    Underactuated - Passive adaptive, Simple Control, High Robustness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41F59-C876-4981-AF45-20376E182E28}"/>
              </a:ext>
            </a:extLst>
          </p:cNvPr>
          <p:cNvSpPr txBox="1"/>
          <p:nvPr/>
        </p:nvSpPr>
        <p:spPr>
          <a:xfrm>
            <a:off x="142628" y="3884091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Coupling:       Tendo-drive – High flexibility, High space utilization, Low durability</a:t>
            </a:r>
          </a:p>
          <a:p>
            <a:pPr lvl="2"/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Linkage-driven – Mature, High rigidity, High precision, Direct drive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5C209-3498-CBF2-2F3D-6B79D00E1CEC}"/>
              </a:ext>
            </a:extLst>
          </p:cNvPr>
          <p:cNvSpPr txBox="1"/>
          <p:nvPr/>
        </p:nvSpPr>
        <p:spPr>
          <a:xfrm>
            <a:off x="204706" y="4715088"/>
            <a:ext cx="1204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Rigidity Balance: High rigidity (high precision, large load) vs. low rigidity/softness (safe interaction)</a:t>
            </a:r>
          </a:p>
        </p:txBody>
      </p:sp>
    </p:spTree>
    <p:extLst>
      <p:ext uri="{BB962C8B-B14F-4D97-AF65-F5344CB8AC3E}">
        <p14:creationId xmlns:p14="http://schemas.microsoft.com/office/powerpoint/2010/main" val="3192055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248EB-4A6A-DB77-2709-53D9A240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CDAA08A-D080-08AA-EE65-76FF99ECA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11EC79-F239-E6C8-A08E-07F5C919D4F7}"/>
              </a:ext>
            </a:extLst>
          </p:cNvPr>
          <p:cNvSpPr txBox="1"/>
          <p:nvPr/>
        </p:nvSpPr>
        <p:spPr>
          <a:xfrm>
            <a:off x="156059" y="1175657"/>
            <a:ext cx="8659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GB" sz="2800" dirty="0"/>
              <a:t>ransmission system - transmitter of power and motion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1F30C-4F9E-FA7F-EE25-55202277286D}"/>
              </a:ext>
            </a:extLst>
          </p:cNvPr>
          <p:cNvSpPr txBox="1"/>
          <p:nvPr/>
        </p:nvSpPr>
        <p:spPr>
          <a:xfrm>
            <a:off x="156059" y="1698877"/>
            <a:ext cx="6277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Transmission is the bridge that converts motor movement into joint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F94F7-914D-ADB7-7D3C-6E21D8CC08FA}"/>
              </a:ext>
            </a:extLst>
          </p:cNvPr>
          <p:cNvSpPr txBox="1"/>
          <p:nvPr/>
        </p:nvSpPr>
        <p:spPr>
          <a:xfrm>
            <a:off x="156058" y="3053094"/>
            <a:ext cx="59399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Tendo – drive</a:t>
            </a:r>
          </a:p>
          <a:p>
            <a:r>
              <a:rPr lang="en-GB" sz="2400" dirty="0"/>
              <a:t>Advantages: High flexibility, High space utilization</a:t>
            </a:r>
          </a:p>
          <a:p>
            <a:r>
              <a:rPr lang="en-GB" sz="2400" dirty="0"/>
              <a:t>Disadvantages: Lower lifespan and Reliability</a:t>
            </a:r>
          </a:p>
          <a:p>
            <a:r>
              <a:rPr lang="en-GB" sz="2400" dirty="0"/>
              <a:t>Representative: Tesla Optimus Hand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3C1E4-79CB-75E6-C3BD-2344184932AC}"/>
              </a:ext>
            </a:extLst>
          </p:cNvPr>
          <p:cNvSpPr txBox="1"/>
          <p:nvPr/>
        </p:nvSpPr>
        <p:spPr>
          <a:xfrm>
            <a:off x="6096001" y="3053094"/>
            <a:ext cx="59399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Linkage/Gear drive</a:t>
            </a:r>
          </a:p>
          <a:p>
            <a:r>
              <a:rPr lang="en-GB" sz="2400" dirty="0"/>
              <a:t>Advantages: High load capacity, High precision, Mature and commonly used</a:t>
            </a:r>
          </a:p>
          <a:p>
            <a:r>
              <a:rPr lang="en-GB" sz="2400" dirty="0"/>
              <a:t>Disadvantages: Not suitable for High-speed movement</a:t>
            </a:r>
          </a:p>
          <a:p>
            <a:r>
              <a:rPr lang="en-GB" sz="2400" dirty="0"/>
              <a:t>Representative: Inspire Robots (</a:t>
            </a:r>
            <a:r>
              <a:rPr lang="ja-JP" altLang="en-US" sz="2000" dirty="0"/>
              <a:t>因时机器人</a:t>
            </a:r>
            <a:r>
              <a:rPr lang="en-GB" altLang="ja-JP" sz="2400" dirty="0"/>
              <a:t>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6456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C1D5-0A66-6E41-329C-DA03D52C0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6E4C3DC-0D74-B6BE-1091-FD4FAF86A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3AE857-B7E1-FA85-5712-A2AEA063650B}"/>
              </a:ext>
            </a:extLst>
          </p:cNvPr>
          <p:cNvSpPr txBox="1"/>
          <p:nvPr/>
        </p:nvSpPr>
        <p:spPr>
          <a:xfrm>
            <a:off x="179615" y="1175657"/>
            <a:ext cx="7956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D</a:t>
            </a:r>
            <a:r>
              <a:rPr lang="en-GB" sz="2800" dirty="0"/>
              <a:t>rive Motor – The “muscles” of the dexterous hand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888C1-B6DF-5A8A-B9E8-277985BF7F28}"/>
              </a:ext>
            </a:extLst>
          </p:cNvPr>
          <p:cNvSpPr txBox="1"/>
          <p:nvPr/>
        </p:nvSpPr>
        <p:spPr>
          <a:xfrm>
            <a:off x="179616" y="1698877"/>
            <a:ext cx="6253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motor is the source of power, determining performance and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01B79-885A-6081-630E-125BC839CC6D}"/>
              </a:ext>
            </a:extLst>
          </p:cNvPr>
          <p:cNvSpPr txBox="1"/>
          <p:nvPr/>
        </p:nvSpPr>
        <p:spPr>
          <a:xfrm>
            <a:off x="179615" y="2868428"/>
            <a:ext cx="11887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Rotary motor + Reducer</a:t>
            </a:r>
            <a:r>
              <a:rPr lang="en-GB" sz="2400" dirty="0"/>
              <a:t>: Most Common scheme, through gears to reduce speed and increase torque</a:t>
            </a:r>
            <a:endParaRPr lang="en-GB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12CD1-7377-B623-3D06-1D5FB43B7ABB}"/>
              </a:ext>
            </a:extLst>
          </p:cNvPr>
          <p:cNvSpPr txBox="1"/>
          <p:nvPr/>
        </p:nvSpPr>
        <p:spPr>
          <a:xfrm>
            <a:off x="179614" y="3699425"/>
            <a:ext cx="11887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Linear screw servo</a:t>
            </a:r>
            <a:r>
              <a:rPr lang="en-GB" sz="2400" dirty="0"/>
              <a:t>: High efficiency, high integration</a:t>
            </a:r>
          </a:p>
          <a:p>
            <a:r>
              <a:rPr lang="en-GB" sz="2400" dirty="0"/>
              <a:t>Representative: The core miniature linear servo actuators of Inspire Robots (</a:t>
            </a:r>
            <a:r>
              <a:rPr lang="ja-JP" altLang="en-US" sz="2400" dirty="0"/>
              <a:t>因时机器人</a:t>
            </a:r>
            <a:r>
              <a:rPr lang="en-GB" altLang="ja-JP" sz="2400" dirty="0"/>
              <a:t>)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699B8-68DB-A60B-1CD0-337A0AB1EC95}"/>
              </a:ext>
            </a:extLst>
          </p:cNvPr>
          <p:cNvSpPr txBox="1"/>
          <p:nvPr/>
        </p:nvSpPr>
        <p:spPr>
          <a:xfrm>
            <a:off x="179614" y="4530422"/>
            <a:ext cx="11887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Worm gear motor</a:t>
            </a:r>
            <a:r>
              <a:rPr lang="en-GB" sz="2400" dirty="0"/>
              <a:t>: Compact structure, high reduction ratio, self-locking </a:t>
            </a:r>
          </a:p>
          <a:p>
            <a:r>
              <a:rPr lang="en-GB" sz="2400" dirty="0"/>
              <a:t>Representative: Tesla Optimus 1</a:t>
            </a:r>
            <a:r>
              <a:rPr lang="en-GB" sz="2400" baseline="30000" dirty="0"/>
              <a:t>st</a:t>
            </a:r>
            <a:r>
              <a:rPr lang="en-GB" sz="2400" dirty="0"/>
              <a:t> generation hand transmission solution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514826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8D94A-5916-2171-7A81-3F5E628B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FDD24AD-F66B-C7A6-8ECD-8D5DE0C05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176E38-7D9E-61D9-F53E-8849180C6640}"/>
              </a:ext>
            </a:extLst>
          </p:cNvPr>
          <p:cNvSpPr txBox="1"/>
          <p:nvPr/>
        </p:nvSpPr>
        <p:spPr>
          <a:xfrm>
            <a:off x="212271" y="1175657"/>
            <a:ext cx="1706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GB" sz="2800" dirty="0"/>
              <a:t>arketing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5F8E2-7E7C-B84F-E6CA-3C6EE6B5EB6D}"/>
              </a:ext>
            </a:extLst>
          </p:cNvPr>
          <p:cNvSpPr txBox="1"/>
          <p:nvPr/>
        </p:nvSpPr>
        <p:spPr>
          <a:xfrm>
            <a:off x="212271" y="1751149"/>
            <a:ext cx="11740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 2024, the global multi-finger dexterous robot market is valued at approximately </a:t>
            </a:r>
            <a:r>
              <a:rPr lang="en-GB" sz="2400" b="1" dirty="0"/>
              <a:t>$2.02 billion</a:t>
            </a:r>
            <a:r>
              <a:rPr lang="en-GB" sz="2400" dirty="0"/>
              <a:t>. The expected compound annual growth rate (CAGR) is projected to be above 26% to 39.2%, with the market size reaching around </a:t>
            </a:r>
            <a:r>
              <a:rPr lang="en-GB" sz="2400" b="1" dirty="0"/>
              <a:t>$15.26 billion</a:t>
            </a:r>
            <a:r>
              <a:rPr lang="en-GB" sz="2400" dirty="0"/>
              <a:t> by 2030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2150EE-E862-281C-2BB3-74CD0830931D}"/>
              </a:ext>
            </a:extLst>
          </p:cNvPr>
          <p:cNvSpPr txBox="1"/>
          <p:nvPr/>
        </p:nvSpPr>
        <p:spPr>
          <a:xfrm>
            <a:off x="212272" y="3059668"/>
            <a:ext cx="11740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Chinese humanoid robot industry is expected to expand from approximately </a:t>
            </a:r>
            <a:r>
              <a:rPr lang="en-GB" sz="2400" b="1" dirty="0"/>
              <a:t>5.3 billion yuan</a:t>
            </a:r>
            <a:r>
              <a:rPr lang="en-GB" sz="2400" dirty="0"/>
              <a:t> in 2025 to 38.7 billion yuan in 2028</a:t>
            </a:r>
          </a:p>
        </p:txBody>
      </p:sp>
    </p:spTree>
    <p:extLst>
      <p:ext uri="{BB962C8B-B14F-4D97-AF65-F5344CB8AC3E}">
        <p14:creationId xmlns:p14="http://schemas.microsoft.com/office/powerpoint/2010/main" val="3553319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FC75D-910D-08DA-BC70-A043A19C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7739827-D0F6-4618-81F0-1783261B8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6B5A0B-EBC5-6D08-6E65-0C7758DFE2D9}"/>
              </a:ext>
            </a:extLst>
          </p:cNvPr>
          <p:cNvSpPr txBox="1"/>
          <p:nvPr/>
        </p:nvSpPr>
        <p:spPr>
          <a:xfrm>
            <a:off x="209556" y="1175657"/>
            <a:ext cx="8736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S</a:t>
            </a:r>
            <a:r>
              <a:rPr lang="en-GB" sz="2800" dirty="0"/>
              <a:t>ummary: The Mechanical Foundation Defines the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B8920-474E-BE61-0080-CE821A80BC71}"/>
              </a:ext>
            </a:extLst>
          </p:cNvPr>
          <p:cNvSpPr txBox="1"/>
          <p:nvPr/>
        </p:nvSpPr>
        <p:spPr>
          <a:xfrm>
            <a:off x="209556" y="1935815"/>
            <a:ext cx="11646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synergy of Mechanics, Transmission, and Actuation forms the indispensable physical basis for dexterous hand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FE471-4351-E953-8FF9-E42092E982FB}"/>
              </a:ext>
            </a:extLst>
          </p:cNvPr>
          <p:cNvSpPr txBox="1"/>
          <p:nvPr/>
        </p:nvSpPr>
        <p:spPr>
          <a:xfrm>
            <a:off x="209556" y="3003750"/>
            <a:ext cx="2411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Mechanical</a:t>
            </a:r>
          </a:p>
          <a:p>
            <a:r>
              <a:rPr lang="en-GB" sz="2400" dirty="0"/>
              <a:t>- Adaptability</a:t>
            </a:r>
          </a:p>
          <a:p>
            <a:r>
              <a:rPr lang="en-GB" sz="2400" dirty="0"/>
              <a:t>- Coupling</a:t>
            </a:r>
          </a:p>
          <a:p>
            <a:r>
              <a:rPr lang="en-GB" sz="2400" dirty="0"/>
              <a:t>- Rigidity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61F4A-D45F-B682-7748-986BCDFE63EB}"/>
              </a:ext>
            </a:extLst>
          </p:cNvPr>
          <p:cNvSpPr txBox="1"/>
          <p:nvPr/>
        </p:nvSpPr>
        <p:spPr>
          <a:xfrm>
            <a:off x="4826838" y="3003750"/>
            <a:ext cx="2411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Transmission</a:t>
            </a:r>
          </a:p>
          <a:p>
            <a:r>
              <a:rPr lang="en-GB" sz="2400" dirty="0"/>
              <a:t>- Tendo-Drive</a:t>
            </a:r>
          </a:p>
          <a:p>
            <a:r>
              <a:rPr lang="en-GB" sz="2400" dirty="0"/>
              <a:t>- Linkage-Driven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F2B38-E37F-29FC-B3DA-6CC21A5618C2}"/>
              </a:ext>
            </a:extLst>
          </p:cNvPr>
          <p:cNvSpPr txBox="1"/>
          <p:nvPr/>
        </p:nvSpPr>
        <p:spPr>
          <a:xfrm>
            <a:off x="9444120" y="3003750"/>
            <a:ext cx="2411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Actuation</a:t>
            </a:r>
          </a:p>
          <a:p>
            <a:r>
              <a:rPr lang="en-GB" sz="2400" dirty="0"/>
              <a:t>- Rotary Motors</a:t>
            </a:r>
          </a:p>
          <a:p>
            <a:r>
              <a:rPr lang="en-GB" sz="2400" dirty="0"/>
              <a:t>- Linear Servos</a:t>
            </a:r>
          </a:p>
          <a:p>
            <a:r>
              <a:rPr lang="en-GB" sz="2400" dirty="0"/>
              <a:t>- Worm Gear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ED1F1-9DD5-3AEC-31C2-5600D91C3254}"/>
              </a:ext>
            </a:extLst>
          </p:cNvPr>
          <p:cNvSpPr txBox="1"/>
          <p:nvPr/>
        </p:nvSpPr>
        <p:spPr>
          <a:xfrm>
            <a:off x="209557" y="4810348"/>
            <a:ext cx="5755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sz="2400" b="1" dirty="0"/>
              <a:t>Market validation</a:t>
            </a:r>
          </a:p>
          <a:p>
            <a:pPr algn="just" latinLnBrk="1"/>
            <a:r>
              <a:rPr lang="en-GB" sz="2400" dirty="0"/>
              <a:t>Driven by the booming humanoid robot market (CAGR &gt; 26%), optimizing this hardware stack has never been more critical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9B153-1C70-82F5-31D9-90A2DD4EE0AC}"/>
              </a:ext>
            </a:extLst>
          </p:cNvPr>
          <p:cNvSpPr txBox="1"/>
          <p:nvPr/>
        </p:nvSpPr>
        <p:spPr>
          <a:xfrm>
            <a:off x="6227379" y="4810348"/>
            <a:ext cx="57550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sz="2400" b="1" dirty="0"/>
              <a:t>Future Challenges</a:t>
            </a:r>
          </a:p>
          <a:p>
            <a:pPr algn="just" latinLnBrk="1"/>
            <a:r>
              <a:rPr lang="en-GB" sz="2400" dirty="0"/>
              <a:t>The key challenge lies in balancing performance, cost, and reliability, which highlights the need for continuous innovation in modularization and robust design</a:t>
            </a:r>
          </a:p>
        </p:txBody>
      </p:sp>
    </p:spTree>
    <p:extLst>
      <p:ext uri="{BB962C8B-B14F-4D97-AF65-F5344CB8AC3E}">
        <p14:creationId xmlns:p14="http://schemas.microsoft.com/office/powerpoint/2010/main" val="606413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7CED-0C82-2C7E-3AB0-E94580A8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7B615E7-F420-359F-BDFC-700F1C665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76778" cy="1175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3430AA-C6C2-DBEE-DBB8-FAB909EDF63E}"/>
              </a:ext>
            </a:extLst>
          </p:cNvPr>
          <p:cNvSpPr txBox="1"/>
          <p:nvPr/>
        </p:nvSpPr>
        <p:spPr>
          <a:xfrm>
            <a:off x="157657" y="1168900"/>
            <a:ext cx="1177684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GB" sz="2800" dirty="0"/>
              <a:t>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3"/>
              </a:rPr>
              <a:t>https://news.mit.edu/2019/new-robot-hand-gripper-soft-and-strong-0315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4"/>
              </a:rPr>
              <a:t>https://shadowrobot.com/news/press-releases/shadow-robot-unveils-the-worlds-most-robust-dexterous-robot hand-developed-in-partnership-with-google-</a:t>
            </a:r>
            <a:r>
              <a:rPr lang="en-GB" dirty="0" err="1">
                <a:hlinkClick r:id="rId4"/>
              </a:rPr>
              <a:t>deepmind</a:t>
            </a:r>
            <a:r>
              <a:rPr lang="en-GB" dirty="0">
                <a:hlinkClick r:id="rId4"/>
              </a:rPr>
              <a:t>/</a:t>
            </a:r>
            <a:endParaRPr lang="en-GB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S. </a:t>
            </a:r>
            <a:r>
              <a:rPr lang="en-GB" dirty="0" err="1">
                <a:effectLst/>
              </a:rPr>
              <a:t>Kadalagere</a:t>
            </a:r>
            <a:r>
              <a:rPr lang="en-GB" dirty="0">
                <a:effectLst/>
              </a:rPr>
              <a:t> Sampath, N. Wang, H. Wu, and C. Yang, ‘Review on human‐like robot manipulation using dexterous hands’, </a:t>
            </a:r>
            <a:r>
              <a:rPr lang="en-GB" i="1" dirty="0">
                <a:effectLst/>
              </a:rPr>
              <a:t>Cognitive Comp and Systems</a:t>
            </a:r>
            <a:r>
              <a:rPr lang="en-GB" dirty="0">
                <a:effectLst/>
              </a:rPr>
              <a:t>, vol. 5, no. 1, pp. 14–29, Mar. 2023, </a:t>
            </a:r>
            <a:r>
              <a:rPr lang="en-GB" dirty="0" err="1">
                <a:effectLst/>
              </a:rPr>
              <a:t>doi</a:t>
            </a:r>
            <a:r>
              <a:rPr lang="en-GB" dirty="0">
                <a:effectLst/>
              </a:rPr>
              <a:t>: </a:t>
            </a:r>
            <a:r>
              <a:rPr lang="en-GB" dirty="0">
                <a:effectLst/>
                <a:hlinkClick r:id="rId5"/>
              </a:rPr>
              <a:t>10.1049/ccs2.12073</a:t>
            </a:r>
            <a:r>
              <a:rPr lang="en-GB" dirty="0">
                <a:effectLst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G. Li, X. Liang, Y. Gao, T. Su, Z. Liu and Z. -G. Hou, "A Linkage-Driven Underactuated Robotic Hand for Adaptive Grasping and In-Hand Manipulation," in IEEE Transactions on Automation Science and Engineering, vol. 21, no. 3, pp. 3039-3051, July 2024, </a:t>
            </a:r>
            <a:r>
              <a:rPr lang="en-GB" dirty="0" err="1"/>
              <a:t>doi</a:t>
            </a:r>
            <a:r>
              <a:rPr lang="en-GB" dirty="0"/>
              <a:t>: 10.1109/TASE.2023.3273721.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‘Humanoid Robot Market Size, Share &amp; Trends, 2025 To 2030’, </a:t>
            </a:r>
            <a:r>
              <a:rPr lang="en-GB" dirty="0" err="1"/>
              <a:t>Marketsandmarkets</a:t>
            </a:r>
            <a:r>
              <a:rPr lang="en-GB" dirty="0"/>
              <a:t>. Accessed: Oct. 05, 2025. [Online]. Available: </a:t>
            </a:r>
            <a:r>
              <a:rPr lang="en-GB" dirty="0">
                <a:hlinkClick r:id="rId6"/>
              </a:rPr>
              <a:t>https://www.marketsandmarkets.com/Market-Reports/humanoid-robot-market-99567653.html?gad_source=1&amp;gad_campaignid=261349036&amp;gbraid=0AAAAADxY7Syoa-FKvOMRBEJAN-RoVuxz4&amp;gclid=CjwKCAjwi4PHBhA-EiwAnjTHuaqBkRrPGJP8ynA3EKdZyq</a:t>
            </a:r>
            <a:r>
              <a:rPr lang="en-GB" dirty="0"/>
              <a:t> DLv6aPtpJsuYyNHl3oDGTByZINkogVBoC7I4QAvD_BwE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B. Wu, ‘The Next Trillion-Dollar Industry: Humanoid Robots’, </a:t>
            </a:r>
            <a:r>
              <a:rPr lang="en-GB" dirty="0" err="1"/>
              <a:t>naipnews</a:t>
            </a:r>
            <a:r>
              <a:rPr lang="en-GB" dirty="0"/>
              <a:t>. Accessed: Oct. 05, 2025. [Online]. Available: https://naipnews.naipo.com/zh-hans/27791/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8865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1969</Words>
  <Application>Microsoft Office PowerPoint</Application>
  <PresentationFormat>Widescreen</PresentationFormat>
  <Paragraphs>140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lihao.zhou2241</dc:creator>
  <cp:lastModifiedBy>lihao.zhou2241</cp:lastModifiedBy>
  <cp:revision>8</cp:revision>
  <dcterms:created xsi:type="dcterms:W3CDTF">2025-10-05T07:18:28Z</dcterms:created>
  <dcterms:modified xsi:type="dcterms:W3CDTF">2025-10-05T14:34:02Z</dcterms:modified>
</cp:coreProperties>
</file>